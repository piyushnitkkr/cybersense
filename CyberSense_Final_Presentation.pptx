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91640"/>
            <a:ext cx="94183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800" b="1" i="0">
                <a:solidFill>
                  <a:srgbClr val="00E5FF"/>
                </a:solidFill>
              </a:rPr>
              <a:t>CYBERSENSE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A Domain-Specific Retrieval-Augmented Generation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546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for Cybersecurity Knowledge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Piyush Kumar  |  Department of Computer Engineering  |  B.Tech Final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418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October 2026  |  Live: https://cybersense-api-vorj.onrender.com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4754880"/>
            <a:ext cx="18288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FastAPI + Qdrant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754880"/>
            <a:ext cx="1828800" cy="29260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Groq LLM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754880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MITRE ATT&amp;CK + CWE + OWASP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The Problem: Fragmented Cybersecurity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Why general AI tools fail for security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657600" cy="508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5252"/>
                </a:solidFill>
              </a:rPr>
              <a:t>Fragmented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MITRE ATT&amp;CK, NVD, OWASP, CWE — scattered across
hundreds of repositories with no unified interface.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4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LLM Hallucinations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General LLMs invent CVE IDs, wrong technique
numbers, and outdated mitigations with high confidence.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657600" cy="5080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6304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B388FF"/>
                </a:solidFill>
              </a:rPr>
              <a:t>No Source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Practitioners cannot verify AI answers without
transparent source attribution and inline citations.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05152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0E5FF"/>
                </a:solidFill>
              </a:rPr>
              <a:t>CyberSense Solution: Grounded RAG with authoritative sources + verifiable inline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System Architecture: Hybrid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Five-stage processing: Safety → Retrieve → Fuse → Rerank →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3 / 10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Knowledge Base: Authoritative Cybersecurity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STIX 2.1 JSON • XML • Markdown — indexed into Qdrant Cloud (384-dim BGE embeddings)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576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F5A0"/>
                </a:solidFill>
              </a:rPr>
              <a:t>MITRE ATT&amp;CK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389888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3832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Enterprise + ICS + Mobile
967+ techniques &amp; sub-techniques
Mitigations, Detection, Data Sources
STIX 2.1 JSON bundles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6576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3716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MITRE CWE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389888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920240"/>
            <a:ext cx="33832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939 Software Weaknesses
Descriptions, Platforms,
Consequence Chains, Examples
cwec_latest.xml (MITRE)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36576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3716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388FF"/>
                </a:solidFill>
              </a:rPr>
              <a:t>OWASP Top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79" y="1389888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DEPLOYED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920240"/>
            <a:ext cx="33832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2025 Edition (Latest)
10 Critical Risk Categories
A01-A10 with Prevention
Markdown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49240"/>
            <a:ext cx="1152144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9496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ROADMAP — Planned Data Sources (Next 2.5 Months)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Drag &amp; Drop UI (Month 1)  |  CISA KEV Live Sync (Month 1)  |  NVD CVE 2.0 API (Month 1-2)  |  CAPEC Patterns (Month 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User Interface: Streamlit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Real-time streaming answers with collapsible verified source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5 / 10</a:t>
            </a:r>
          </a:p>
        </p:txBody>
      </p:sp>
      <p:pic>
        <p:nvPicPr>
          <p:cNvPr id="8" name="Picture 7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757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Hybrid Retrieval: Dense + Sparse + 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Reciprocal Rank Fusion ensures both semantic recall and exact identifier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303520" cy="2377440"/>
          </a:xfrm>
          <a:prstGeom prst="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DENSE VECTOR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Model: BAAI/bge-small-en-v1.5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Dimension: 384-d cosine similarity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Database: Qdrant Cloud (HNSW index)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Top-K: 30 candidates retrieved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Strength: Semantic understanding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94760"/>
            <a:ext cx="5303520" cy="2377440"/>
          </a:xfrm>
          <a:prstGeom prst="rect">
            <a:avLst/>
          </a:prstGeom>
          <a:solidFill>
            <a:srgbClr val="111827"/>
          </a:solidFill>
          <a:ln w="1524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388FF"/>
                </a:solidFill>
              </a:rPr>
              <a:t>SPARSE BM25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Engine: rank_bm25 (in-memory)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Populated: Qdrant full scroll on startup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Tokenizer: regex [a-zA-Z0-9_.-]+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Top-K: 30 candidates retrieved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</a:rPr>
              <a:t>• Strength: Exact ID/token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926080"/>
            <a:ext cx="502920" cy="1005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017520"/>
            <a:ext cx="594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0B0F19"/>
                </a:solidFill>
              </a:rPr>
              <a:t>RRF
k=60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188720"/>
            <a:ext cx="5257800" cy="5120640"/>
          </a:xfrm>
          <a:prstGeom prst="rect">
            <a:avLst/>
          </a:prstGeom>
          <a:solidFill>
            <a:srgbClr val="111827"/>
          </a:solidFill>
          <a:ln w="1524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280160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F5A0"/>
                </a:solidFill>
              </a:rPr>
              <a:t>FUSION &amp; RERANKING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RRF merges dense + sparse ranked lists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Score formula: sum(1/(k + rank_i))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Eliminates score-space incompatibility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CROSS-ENCODER RERANKER (Optional)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Model: BAAI/bge-reranker-base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Evaluates (query, chunk) pairs jointly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Top-8 re-scored for precision tasks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Disabled on free-tier (RAM constraint)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ENTITY SHORTCUT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Regex: CVE-YYYY-NNNNN  |  T\d{4}  |  CWE-NN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Direct Qdrant payload filter — exact match</a:t>
            </a:r>
          </a:p>
          <a:p>
            <a:pPr>
              <a:spcAft>
                <a:spcPts val="250"/>
              </a:spcAft>
            </a:pPr>
            <a:r>
              <a:rPr sz="1150">
                <a:solidFill>
                  <a:srgbClr val="FFFFFF"/>
                </a:solidFill>
              </a:rPr>
              <a:t>  Bypasses semantic stage for ID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Evaluation Results: 60-Question Golden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CyberSense (Hybrid RAG) vs. Ungrounded General-Purpose LLM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7 / 10</a:t>
            </a:r>
          </a:p>
        </p:txBody>
      </p:sp>
      <p:pic>
        <p:nvPicPr>
          <p:cNvPr id="8" name="Picture 7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77240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12480" y="1234440"/>
            <a:ext cx="347472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28016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F5A0"/>
                </a:solidFill>
              </a:rP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39903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Factual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240280"/>
            <a:ext cx="347472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28600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40487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Citation Grounding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46120"/>
            <a:ext cx="347472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29184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B388FF"/>
                </a:solidFill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41071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Guardrail Adherence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251960"/>
            <a:ext cx="347472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29768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D700"/>
                </a:solidFill>
              </a:rPr>
              <a:t>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41655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Correct Abstention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257800"/>
            <a:ext cx="347472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530352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&lt; 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542239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Query Latency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What's Built &amp;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core MVP components are live in production — zero infrastructure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344168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Hybrid RAG: Dense (Qdrant) + Sparse (BM25) + RRF Fusion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63040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57984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157984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13432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MITRE ATT&amp;CK Enterprise + ICS + Mobile (967+ techniques with mitigations)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432304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27248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127248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282696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MITRE CWE Weaknesses (939 entries, full weakness chain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401568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96512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96512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2519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OWASP Top 10 2025 (A01-A10 risk categories)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4370832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65776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065776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5221224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Safety Guardrails: Exploit refusal + prompt injection sanitization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5340096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188720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188720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344168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Inline Citation Validation (every factual claim source-mapped)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98480" y="1463040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157984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157984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313432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Real-time Streaming via Server-Sent Events (SSE)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0" y="2432304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27248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127248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282696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Entity Extraction Fast-Path (CVE, CWE, T-code regex filters)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0" y="3401568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96512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096512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42519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 API: BM25 rebuild, ingestion triggers, document CRUD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98480" y="4370832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065776"/>
            <a:ext cx="5577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065776"/>
            <a:ext cx="63500" cy="82296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5221224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CI/CD: GitHub Actions, Ruff linting, Black formatting, Pytest (35 tests)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5340096"/>
            <a:ext cx="1828800" cy="292608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B0F19"/>
                </a:solidFill>
              </a:rPr>
              <a:t>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2.5-Month Development Roadmap (10-Week Sprint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Structured milestones for the next evaluation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9 / 10</a:t>
            </a:r>
          </a:p>
        </p:txBody>
      </p:sp>
      <p:pic>
        <p:nvPicPr>
          <p:cNvPr id="8" name="Picture 7" descr="roadm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67160" cy="470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943600"/>
            <a:ext cx="2788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989320"/>
            <a:ext cx="2606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E5FF"/>
                </a:solidFill>
              </a:rPr>
              <a:t>Month 1: Drag &amp; Drop UI + CISA KEV Live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5943600"/>
            <a:ext cx="2788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989320"/>
            <a:ext cx="2606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Month 1-2: NVD CVE 2.0 API + Threat Graph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5943600"/>
            <a:ext cx="2788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5989320"/>
            <a:ext cx="2606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B388FF"/>
                </a:solidFill>
              </a:rPr>
              <a:t>Month 2: CAPEC Patterns + RAGAS Eval 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5943600"/>
            <a:ext cx="2788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989320"/>
            <a:ext cx="2606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F5A0"/>
                </a:solidFill>
              </a:rPr>
              <a:t>Month 2.5: Automated SOC Threat Report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Conclusion &amp;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CyberSense: Production-ready Cybersecurity RAG — Zero-cost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CyberSense  |  B.Tech Final Year Project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10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6858000" cy="5303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492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What CyberSense Achieves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Grounds every answer in authoritative sources (ATT&amp;CK, CWE, OWASP)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Eliminates LLM hallucinations through strict retrieval grounding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Provides verifiable inline citations for every factual claim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Hybrid retrieval for both semantic understanding + exact ID matching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Fully deployed at zero cost: Render + Qdrant Cloud + Groq Cloud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+ 35 unit/integration tests, ruff-linted, black-formatted codebase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</a:rPr>
              <a:t>  + 94% factual accuracy vs. 58% for ungrounded LLM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143000"/>
            <a:ext cx="4434840" cy="5303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234440"/>
            <a:ext cx="4114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F5A0"/>
                </a:solidFill>
              </a:rPr>
              <a:t>Project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73736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MVP: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37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F5A0"/>
                </a:solidFill>
              </a:rPr>
              <a:t>COMPLETE &amp;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9572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Tests: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95728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F5A0"/>
                </a:solidFill>
              </a:rPr>
              <a:t>35/35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54096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CI/CD: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054096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F5A0"/>
                </a:solidFill>
              </a:rPr>
              <a:t>GITHUB ACTIONS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712464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Linting: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712464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F5A0"/>
                </a:solidFill>
              </a:rPr>
              <a:t>RUFF + BLACK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70831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Drag &amp; Drop UI: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370831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PLANNED — MONTH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02920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KEV &amp; CVE Sync: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0292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PLANNED — MONTH 1-2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68756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SOC Export: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5687568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PLANNED — MONTH 2.5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https://cybersense-api-vorj.onrender.com  |  GitHub: github.com/piyushnitkkr/CyberSense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